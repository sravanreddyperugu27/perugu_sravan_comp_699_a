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6"/>
  </p:notesMasterIdLst>
  <p:handoutMasterIdLst>
    <p:handoutMasterId r:id="rId27"/>
  </p:handoutMasterIdLst>
  <p:sldIdLst>
    <p:sldId id="256" r:id="rId5"/>
    <p:sldId id="292" r:id="rId6"/>
    <p:sldId id="266" r:id="rId7"/>
    <p:sldId id="295" r:id="rId8"/>
    <p:sldId id="283" r:id="rId9"/>
    <p:sldId id="297" r:id="rId10"/>
    <p:sldId id="298" r:id="rId11"/>
    <p:sldId id="299" r:id="rId12"/>
    <p:sldId id="264" r:id="rId13"/>
    <p:sldId id="300" r:id="rId14"/>
    <p:sldId id="301" r:id="rId15"/>
    <p:sldId id="302" r:id="rId16"/>
    <p:sldId id="303" r:id="rId17"/>
    <p:sldId id="304" r:id="rId18"/>
    <p:sldId id="268" r:id="rId19"/>
    <p:sldId id="305" r:id="rId20"/>
    <p:sldId id="307" r:id="rId21"/>
    <p:sldId id="308" r:id="rId22"/>
    <p:sldId id="309" r:id="rId23"/>
    <p:sldId id="310" r:id="rId24"/>
    <p:sldId id="29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388" autoAdjust="0"/>
  </p:normalViewPr>
  <p:slideViewPr>
    <p:cSldViewPr snapToGrid="0" showGuides="1">
      <p:cViewPr>
        <p:scale>
          <a:sx n="92" d="100"/>
          <a:sy n="92" d="100"/>
        </p:scale>
        <p:origin x="245" y="106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F30E-90EB-952C-2DB1-18A2C22E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9D430-D7B7-0451-9BAE-DC7293ED5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77553-41F6-DF3D-51D7-D3B2E3762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35DBA-4447-6D36-2522-EF2622BBC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227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2FA6-973B-8BAD-16C0-2E418450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5ECE4-B3E9-8D14-1428-F22760A66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EDA77-A583-96DD-94F5-A25BE4F51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E579E-8241-ACCE-D7B0-AD9222006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495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CE2B-ACA8-253C-36A7-48C1230C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8CC63-0A2C-1B89-6D84-797BCCEDF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34684-31B6-82EA-93BC-AA620E1FC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1A6E-6AEC-C452-28FF-DE4F1FB2C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119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5C44-2D1B-9B2E-EAF7-B278981D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7E8BB-55CE-6C15-437C-50DA0D1BA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1910C-A10F-D915-BC5D-D461D196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1B77-210E-9721-E07E-5E2C33772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756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3DE4-29F3-3AD3-E212-5BC89620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00DF3-1FE1-3A33-DA5F-4B0F5A278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11E10-A45B-5E3A-20B1-ED250B8A4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23DFD-DC18-52F0-8B41-9BB1B9133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57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2B3F-01B6-A9B5-8315-BBC54209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585C9-B952-1318-EC65-E28DFC2D3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1539B-6378-BFDA-20A4-557CC46EC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28F4-F171-3364-8057-A31188AC3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688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1CFE-BFD8-674E-EFFA-BCBBEC49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C1C91-DC4B-4C4F-B0A5-55350FD72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D6EEF-BD37-1A29-32F0-F2DA0EA69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787BF-8435-FDD7-6912-AED49A563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773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B5B9-A17E-5B26-8D8F-C81ABC6A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15BBF-3528-D1FD-FC05-F1FBED395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AB392-8155-3050-A359-736F375EF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7BC04-AF8C-D4C6-1A65-8B5D60BFE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72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70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5444"/>
            <a:ext cx="11277600" cy="1044253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45360"/>
            <a:ext cx="3342640" cy="3992880"/>
          </a:xfrm>
        </p:spPr>
        <p:txBody>
          <a:bodyPr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36720" y="2236109"/>
            <a:ext cx="7498080" cy="4002131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90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91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2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6" r:id="rId16"/>
    <p:sldLayoutId id="2147483817" r:id="rId17"/>
    <p:sldLayoutId id="2147483819" r:id="rId18"/>
    <p:sldLayoutId id="2147483822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.org/csdl/proceedings-article/iciscet/2022/604400a288/1HbbSBfA532" TargetMode="External"/><Relationship Id="rId2" Type="http://schemas.openxmlformats.org/officeDocument/2006/relationships/hyperlink" Target="https://doi.org/10.1080/07408170802165880" TargetMode="Externa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398" y="1185201"/>
            <a:ext cx="9697863" cy="1499616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Smart Healthcare Appointment and Resource Management System</a:t>
            </a:r>
            <a:endParaRPr lang="en-US" dirty="0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>
          <a:xfrm>
            <a:off x="448053" y="2934407"/>
            <a:ext cx="11274551" cy="328797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20A5ED-EA84-F97C-DBAE-8F5164776ED5}"/>
              </a:ext>
            </a:extLst>
          </p:cNvPr>
          <p:cNvSpPr/>
          <p:nvPr/>
        </p:nvSpPr>
        <p:spPr>
          <a:xfrm>
            <a:off x="558523" y="6371508"/>
            <a:ext cx="320459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SRAVAN KUMAR REDDY PERUGU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9422" y="322036"/>
            <a:ext cx="11029950" cy="987425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84A95-FA7C-9515-BA42-6041C86B3F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9"/>
          <a:stretch>
            <a:fillRect/>
          </a:stretch>
        </p:blipFill>
        <p:spPr>
          <a:xfrm>
            <a:off x="355780" y="1432010"/>
            <a:ext cx="11480440" cy="535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966" y="166322"/>
            <a:ext cx="11029616" cy="988332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CURRENT 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CC9EB-D1DE-DE4F-3B57-2EA409381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13"/>
          <a:stretch>
            <a:fillRect/>
          </a:stretch>
        </p:blipFill>
        <p:spPr>
          <a:xfrm>
            <a:off x="1073582" y="1154654"/>
            <a:ext cx="10287000" cy="549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WHY THIS SYSTEM 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59E96-392C-73E5-C480-8CF0C434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51"/>
          <a:stretch>
            <a:fillRect/>
          </a:stretch>
        </p:blipFill>
        <p:spPr>
          <a:xfrm>
            <a:off x="195681" y="1717990"/>
            <a:ext cx="11800638" cy="514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1" y="803636"/>
            <a:ext cx="9093724" cy="600959"/>
          </a:xfrm>
          <a:noFill/>
        </p:spPr>
        <p:txBody>
          <a:bodyPr/>
          <a:lstStyle/>
          <a:p>
            <a:r>
              <a:rPr lang="en-US" sz="3200" b="1" dirty="0">
                <a:latin typeface="Arial Black" panose="020B0A04020102020204" pitchFamily="34" charset="0"/>
              </a:rPr>
              <a:t>SYSTEM BENEFITS &amp; 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53247-430E-8DE8-54CA-0A7C278C49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69"/>
          <a:stretch>
            <a:fillRect/>
          </a:stretch>
        </p:blipFill>
        <p:spPr>
          <a:xfrm>
            <a:off x="1344890" y="1651914"/>
            <a:ext cx="9323110" cy="503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0F18-542A-F369-BE2C-402FE202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9AE35FA4-3745-A75C-4F2B-27D60C012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1" y="803636"/>
            <a:ext cx="6476214" cy="600959"/>
          </a:xfrm>
          <a:noFill/>
        </p:spPr>
        <p:txBody>
          <a:bodyPr/>
          <a:lstStyle/>
          <a:p>
            <a:r>
              <a:rPr lang="en-US" sz="3200" b="1" dirty="0">
                <a:latin typeface="Arial Black" panose="020B0A04020102020204" pitchFamily="34" charset="0"/>
              </a:rPr>
              <a:t>SYSTEM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898668-C90A-C72D-0965-8998120D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441" b="4033"/>
          <a:stretch>
            <a:fillRect/>
          </a:stretch>
        </p:blipFill>
        <p:spPr>
          <a:xfrm>
            <a:off x="0" y="1819372"/>
            <a:ext cx="12192000" cy="442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9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825F-3B04-F29A-5D14-DD2E152A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18C99A5-6DA6-01AA-84F2-8CC67F2CF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9" y="813063"/>
            <a:ext cx="4374038" cy="600959"/>
          </a:xfrm>
          <a:noFill/>
        </p:spPr>
        <p:txBody>
          <a:bodyPr/>
          <a:lstStyle/>
          <a:p>
            <a:r>
              <a:rPr lang="en-US" sz="3200" b="1" dirty="0">
                <a:latin typeface="Arial Black" panose="020B0A04020102020204" pitchFamily="34" charset="0"/>
              </a:rPr>
              <a:t>MAIN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90F2-8B2D-0AE4-BDEA-AD6CBE5A89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81" b="1858"/>
          <a:stretch>
            <a:fillRect/>
          </a:stretch>
        </p:blipFill>
        <p:spPr>
          <a:xfrm>
            <a:off x="0" y="1989056"/>
            <a:ext cx="12192000" cy="412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6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01E3-88A5-1088-365D-705FB4BC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47703FF-895C-9836-F2AE-B742DED62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9" y="813063"/>
            <a:ext cx="4374038" cy="600959"/>
          </a:xfrm>
          <a:noFill/>
        </p:spPr>
        <p:txBody>
          <a:bodyPr/>
          <a:lstStyle/>
          <a:p>
            <a:r>
              <a:rPr lang="en-US" sz="3200" b="1" dirty="0">
                <a:latin typeface="Arial Black" panose="020B0A04020102020204" pitchFamily="34" charset="0"/>
              </a:rPr>
              <a:t>KEY ACTORS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DC2A04-003C-9247-B984-CF590EE16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9" t="21718" r="1191" b="2749"/>
          <a:stretch>
            <a:fillRect/>
          </a:stretch>
        </p:blipFill>
        <p:spPr>
          <a:xfrm>
            <a:off x="1319751" y="1508288"/>
            <a:ext cx="9863187" cy="518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2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USE CASE DIAGRAM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C987B03-58AE-7E8A-A1C7-83569FBB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2350" y="2159081"/>
            <a:ext cx="5823097" cy="3633047"/>
          </a:xfrm>
          <a:noFill/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 system’s use case diagram shows 4 main actors: Patient, Provider, Manager, Admin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 handles booking, reschedule, cancel, view slots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Provider manages availability, confirms and completes appointments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 handles approvals, schedules, and reports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 controls system setup, resources, and overrides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EB0F5-385B-0888-B800-DE0BBF559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756" y="690880"/>
            <a:ext cx="3738964" cy="6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C77C-A503-884A-63EB-69DF73A2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9D2C075-7C07-A87A-D585-7B5CCC85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ACTIVITY DIAGRAM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B4187DA-BF69-5B4B-6112-C19E4A6C4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2349" y="2159081"/>
            <a:ext cx="4640720" cy="3633047"/>
          </a:xfrm>
          <a:noFill/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activity diagram explains how my system handles appointment flow </a:t>
            </a:r>
            <a:endParaRPr lang="en-GB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 checks slots and sends request, system verifies availability </a:t>
            </a:r>
            <a:endParaRPr lang="en-GB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processes booking based on resources and conditions </a:t>
            </a:r>
            <a:endParaRPr lang="en-GB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 step comes only for special or high priority cases </a:t>
            </a:r>
            <a:endParaRPr lang="en-GB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result shows confirm, reject, or suggest another slot</a:t>
            </a:r>
            <a:endParaRPr lang="en-GB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7117A-933C-387F-E451-ACD219BB3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22" y="273749"/>
            <a:ext cx="7242676" cy="658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0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4295-991B-3B05-8049-1FF24A6D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9CA34A9-CB93-6269-5892-695FF723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CLASS DIAGRAM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0B9929F-C059-D932-5862-471ABFDE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2348" y="2159081"/>
            <a:ext cx="4998167" cy="4191843"/>
          </a:xfrm>
          <a:noFill/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how my system is structured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is the main part, everything connects to 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service handles all booking logic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role has its own job in the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parts help with alerts and tracking system work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8B11A-6FFA-5090-C275-4905E0D65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57" y="800549"/>
            <a:ext cx="7058095" cy="570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55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3959-A555-C5B9-ED88-91CC6A81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BF5C0FF-03E6-0561-1282-3CFAEA90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OBJECT DIAGRAM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20781D30-8F81-C57A-BEE7-F1E59BF84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2348" y="2159081"/>
            <a:ext cx="4682285" cy="4191843"/>
          </a:xfrm>
          <a:noFill/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real example objects in my system at one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is main object connected to all others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patient, doctor, room, equipment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 values like ID, time, status, priority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how all parts work together for one booking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D1A31-8160-DE1F-07B3-9B2B68808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683" y="0"/>
            <a:ext cx="7185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6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E09D2-7DD3-CD60-6E28-1DD6558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8F11C44-34C3-4FF1-7382-A984C3877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4" y="-64424"/>
            <a:ext cx="11183627" cy="5715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SEQUENCE DIAGRAM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8DFA6F13-07A3-E2CE-CBBF-C3A6C6543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5445" y="1333078"/>
            <a:ext cx="3142897" cy="4191843"/>
          </a:xfrm>
          <a:noFill/>
        </p:spPr>
        <p:txBody>
          <a:bodyPr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step by step how appointment request works in my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request goes to system, then system checks conflicts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assigns doctor, room, and equipment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needed, approval request is sent to manager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system saves data, sends notification, and updates result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8DBC1-1E5A-23E5-F769-A71D35DD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342" y="798023"/>
            <a:ext cx="8498673" cy="576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92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2F56-B405-9769-03D2-D595753F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662FFDD-35F1-822E-04AF-7436C77E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1" y="761578"/>
            <a:ext cx="11183627" cy="5715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PACKAGE DIAGRAM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F2AB8181-02C5-C8A7-2375-DD4CC73B5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071" y="1599085"/>
            <a:ext cx="4980010" cy="4191843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my system is divided into different parts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part handles booking and scheduling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part shows roles like patient, provider, admin, manager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part manages room and equipment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part handles approval, reports, notifications, logs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D773D-7D6A-BA7C-4CA5-57B4D0964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081" y="937610"/>
            <a:ext cx="6605386" cy="55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9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6A93E959-E68D-08C8-9C1E-5A318B3E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725444"/>
            <a:ext cx="11591636" cy="521465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TECHNOLOGY STACK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622D69-413C-D4B9-5B3E-EC404921F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810" y="1246909"/>
            <a:ext cx="8237451" cy="549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3ABB-9E55-C8E0-DEEA-7D9734A6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" y="725445"/>
            <a:ext cx="11217564" cy="870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CODE STRUCTURE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6CB726D4-4662-933E-A9C1-731895C4E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345224"/>
              </p:ext>
            </p:extLst>
          </p:nvPr>
        </p:nvGraphicFramePr>
        <p:xfrm>
          <a:off x="1344330" y="2058281"/>
          <a:ext cx="8846872" cy="445559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4423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Folder/File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app.py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Starts system and connects modules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database/db.py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Database connection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database/models.py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Defines system tables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schemas/schema.py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Data validation structure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services/auth.py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Authentication and security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services/service.py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Core system logic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routers/auth_route.py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Login and register APIs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routers/patients.py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Patient operations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routers/providers.py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Provider operations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routers/admin.py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Admin functionalities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routers/managers.py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</a:rPr>
                        <a:t>Manager approvals and reports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templates/index.html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User interface dashboard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780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7E0C0-0C41-D986-6472-4E328C46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00F2-03BB-97EE-4D00-D2EB8608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" y="725445"/>
            <a:ext cx="11217564" cy="870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HOW CODE MEET USER REQUIREMENTS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35988CA-80CA-ED5D-945D-AB3B5AE74B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6041568"/>
              </p:ext>
            </p:extLst>
          </p:nvPr>
        </p:nvGraphicFramePr>
        <p:xfrm>
          <a:off x="615143" y="1657575"/>
          <a:ext cx="10881360" cy="5080615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60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Requirement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Implementation (Files &amp; Methods)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Implementation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books appointment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routers/patients.py function </a:t>
                      </a:r>
                      <a:r>
                        <a:rPr lang="en-GB" sz="1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request_appointment</a:t>
                      </a: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uses </a:t>
                      </a:r>
                      <a:r>
                        <a:rPr lang="en-GB" sz="1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AppointmentService.allocate_resources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form submits data from dashboard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available slots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routers/patients.py function get_available_slots uses AppointmentService.get_available_slots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options shown in booking screen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Reschedule appointment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routers/patients.py function reschedule_appointment uses AppointmentService.validate_reschedule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selects new date and submits form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 appointment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routers/patients.py function cancel_appointment updates status to cancelled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 button in My Appointments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Provider views schedule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routers/providers.py function get_my_schedule fetches appointment data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 displayed in dashboard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or reject appointment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routers/providers.py functions confirm_appointment and reject_appointment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 and reject buttons in UI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assigns room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routers/admin.py function assign_room uses check_room_availability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selects room in dashboard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 approves appointment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routers/managers.py function approve updates status to confirmed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Approval screen for manager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9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 sent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services/service.py function create_notification</a:t>
                      </a:r>
                      <a:endParaRPr lang="en-GB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 badge shown in UI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66" marR="55166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289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BA0D-9AE5-2AAD-9ED3-C3D3E582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8997-B807-91D7-9396-8555CD2F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" y="725445"/>
            <a:ext cx="11217564" cy="870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CLASS TO CODE MAPPING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5C682899-8288-5C30-88A0-C31173A7E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879742"/>
              </p:ext>
            </p:extLst>
          </p:nvPr>
        </p:nvGraphicFramePr>
        <p:xfrm>
          <a:off x="542275" y="1620985"/>
          <a:ext cx="11147166" cy="5050715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71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5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5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8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(UML)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File &amp; Implementation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Usage in System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User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auth_route.py for login and role check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Patient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patients.py for booking and profile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Provider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Provider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providers.py for schedule handling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Appointment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Appointment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all routers for booking and status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ServiceType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ServiceType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booking to define duration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ExaminationRoom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ExaminationRoom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admin.py for room assignment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MedicalEquipment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class MedicalEquipment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resource allocation logic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SchedulingService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services/service.py class AppointmentService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booking, validation, allocation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and service.py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booking and approval alerts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AuditLog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database/models.py and service.py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admin and manager actions</a:t>
                      </a:r>
                      <a:endParaRPr lang="en-GB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194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17EC-CD36-FD03-7BB3-528F8009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72F1-0798-6CA7-692C-0C2955C1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" y="725445"/>
            <a:ext cx="11217564" cy="870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577B1B-C7E1-74DF-A470-EBAF87C8D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45360"/>
            <a:ext cx="10191404" cy="3992880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system makes appointment booking simple and fast for users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avoids conflicts by checking doctor, room, and equipment properly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all roles with clear responsibilities in one platform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clinic efficiency and reduces manual work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my system gives a complete smart solution for healthcare scheduling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006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06C73-1415-FB82-A5A4-D4D1209B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29C4-DDE8-54BB-D3EA-43087242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" y="725445"/>
            <a:ext cx="11217564" cy="870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1B3819-46C2-8FF4-ECEA-E2F009784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076" y="1936865"/>
            <a:ext cx="11039302" cy="430137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Bard, J. F., &amp; Purnomo, H. W. (2005). Short-term nurse scheduling in response to daily fluctuations in supply and demand. Health Care Management Science, 8(4), 315–324. 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Cao, Y., Liu, J., &amp; Wang, G. (2020). Improving outpatient scheduling and reducing patient waiting time in healthcare systems. Journal of Medical Systems, 44(6), 1–12.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Dennis, A., Wixom, B. H., &amp; Tegarden, D. (2020). Systems analysis and design: An object-oriented approach with UML (6th ed.). Wiley.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Gupta, D., &amp; Denton, B. (2008). Appointment scheduling in health care: Challenges and opportunities. IIE Transactions, 40(9), 800–819. </a:t>
            </a: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https://doi.org/10.1080/07408170802165880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Pressman, R. S., &amp; Maxim, B. R. (2020). Software engineering: A practitioner’s approach (9th ed.). McGraw-Hill.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Zhu, Y., Qin, L., He, B., &amp; Xin, D. (2022). Design and implementation of laboratory appointment management system based on RFID. In Proceedings of the 2022 International Conference on Information System, Computing and Educational Technology (ICISCET). IEEE. </a:t>
            </a: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https://www.computer.org/csdl/proceedings-article/iciscet/2022/604400a288/1HbbSBfA532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49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541" y="1303089"/>
            <a:ext cx="3672970" cy="2125911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8528" y="4065106"/>
            <a:ext cx="4608613" cy="3491849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SRAVAN KUMAR REDDY PERUGU</a:t>
            </a:r>
          </a:p>
          <a:p>
            <a:pPr algn="ctr"/>
            <a:r>
              <a:rPr lang="en-US" dirty="0">
                <a:latin typeface="Arial Black" panose="020B0A04020102020204" pitchFamily="34" charset="0"/>
              </a:rPr>
              <a:t>sperugu@rivier.edu</a:t>
            </a:r>
          </a:p>
        </p:txBody>
      </p:sp>
      <p:pic>
        <p:nvPicPr>
          <p:cNvPr id="23" name="Picture Placeholder 22" descr="A group of people giving each other a high five">
            <a:extLst>
              <a:ext uri="{FF2B5EF4-FFF2-40B4-BE49-F238E27FC236}">
                <a16:creationId xmlns:a16="http://schemas.microsoft.com/office/drawing/2014/main" id="{D92A2E6E-E7AB-92FB-0E6F-133483021C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6095" r="6095"/>
          <a:stretch/>
        </p:blipFill>
        <p:spPr>
          <a:xfrm>
            <a:off x="5486399" y="791676"/>
            <a:ext cx="6368141" cy="5687344"/>
          </a:xfrm>
        </p:spPr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 design</Template>
  <TotalTime>98</TotalTime>
  <Words>1141</Words>
  <Application>Microsoft Office PowerPoint</Application>
  <PresentationFormat>Widescreen</PresentationFormat>
  <Paragraphs>170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Gill Sans MT</vt:lpstr>
      <vt:lpstr>Symbol</vt:lpstr>
      <vt:lpstr>Times New Roman</vt:lpstr>
      <vt:lpstr>Wingdings 2</vt:lpstr>
      <vt:lpstr>DividendVTI</vt:lpstr>
      <vt:lpstr>Smart Healthcare Appointment and Resource Management System</vt:lpstr>
      <vt:lpstr>INTRODUCTION</vt:lpstr>
      <vt:lpstr>CURRENT PROBLEMS</vt:lpstr>
      <vt:lpstr>WHY THIS SYSTEM ??</vt:lpstr>
      <vt:lpstr>SYSTEM BENEFITS &amp; SOLUTIONS</vt:lpstr>
      <vt:lpstr>SYSTEM WORKFLOW</vt:lpstr>
      <vt:lpstr>MAIN FEATURES</vt:lpstr>
      <vt:lpstr>KEY ACTORS</vt:lpstr>
      <vt:lpstr>USE CASE DIAGRAM</vt:lpstr>
      <vt:lpstr>ACTIVITY DIAGRAM</vt:lpstr>
      <vt:lpstr>CLASS DIAGRAM</vt:lpstr>
      <vt:lpstr>OBJECT DIAGRAM</vt:lpstr>
      <vt:lpstr>SEQUENCE DIAGRAM</vt:lpstr>
      <vt:lpstr>PACKAGE DIAGRAM</vt:lpstr>
      <vt:lpstr>TECHNOLOGY STACK</vt:lpstr>
      <vt:lpstr>CODE STRUCTURE</vt:lpstr>
      <vt:lpstr>HOW CODE MEET USER REQUIREMENTS</vt:lpstr>
      <vt:lpstr>CLASS TO CODE MAPPING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Likitha Chereddy</dc:creator>
  <cp:lastModifiedBy>Likitha Chereddy</cp:lastModifiedBy>
  <cp:revision>1</cp:revision>
  <dcterms:created xsi:type="dcterms:W3CDTF">2026-04-29T01:41:31Z</dcterms:created>
  <dcterms:modified xsi:type="dcterms:W3CDTF">2026-04-29T03:20:07Z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